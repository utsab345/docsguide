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4" r:id="rId3"/>
    <p:sldId id="319" r:id="rId4"/>
    <p:sldId id="285" r:id="rId5"/>
    <p:sldId id="286" r:id="rId6"/>
    <p:sldId id="287" r:id="rId7"/>
    <p:sldId id="321" r:id="rId8"/>
    <p:sldId id="322" r:id="rId9"/>
    <p:sldId id="320" r:id="rId10"/>
    <p:sldId id="324" r:id="rId11"/>
    <p:sldId id="325" r:id="rId12"/>
    <p:sldId id="297" r:id="rId13"/>
    <p:sldId id="326" r:id="rId14"/>
    <p:sldId id="311" r:id="rId15"/>
    <p:sldId id="308" r:id="rId16"/>
    <p:sldId id="327" r:id="rId17"/>
    <p:sldId id="309" r:id="rId18"/>
    <p:sldId id="31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  <p14:sldId id="284"/>
            <p14:sldId id="319"/>
            <p14:sldId id="285"/>
            <p14:sldId id="286"/>
            <p14:sldId id="287"/>
            <p14:sldId id="321"/>
            <p14:sldId id="322"/>
            <p14:sldId id="320"/>
            <p14:sldId id="324"/>
            <p14:sldId id="325"/>
            <p14:sldId id="297"/>
            <p14:sldId id="326"/>
            <p14:sldId id="311"/>
            <p14:sldId id="308"/>
            <p14:sldId id="327"/>
            <p14:sldId id="309"/>
            <p14:sldId id="310"/>
          </p14:sldIdLst>
        </p14:section>
        <p14:section name="Search for 3D Models" id="{6844172C-9703-4DC7-908A-C23538616A3C}">
          <p14:sldIdLst/>
        </p14:section>
        <p14:section name="Insert a 3D Model from a File" id="{66737F24-1C36-4DF4-A00F-927A3F1468AC}">
          <p14:sldIdLst/>
        </p14:section>
        <p14:section name="Position and Rotate Your 3D Model" id="{A08F0015-E7F5-4E26-BBAF-AEE4F9A16AD2}">
          <p14:sldIdLst/>
        </p14:section>
        <p14:section name="Animate Your 3D Model" id="{B62868DA-F525-4AC5-9E3E-39ECA0154BBD}">
          <p14:sldIdLst/>
        </p14:section>
        <p14:section name="Learn More" id="{62756D7E-964E-493A-83A1-13BC0B6B5E47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6F"/>
    <a:srgbClr val="00A878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8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64FE49-0D1A-4742-9FA1-90F252A16C82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EB44E9E-49E4-4654-8D36-B6613844105E}">
      <dgm:prSet phldrT="[Text]"/>
      <dgm:spPr>
        <a:noFill/>
        <a:ln w="28575">
          <a:solidFill>
            <a:srgbClr val="009E6F"/>
          </a:solidFill>
        </a:ln>
      </dgm:spPr>
      <dgm:t>
        <a:bodyPr/>
        <a:lstStyle/>
        <a:p>
          <a:pPr>
            <a:buFont typeface="Wingdings" panose="05000000000000000000" pitchFamily="2" charset="2"/>
            <a:buChar char="§"/>
          </a:pPr>
          <a:r>
            <a:rPr lang="en-US" b="1" dirty="0">
              <a:solidFill>
                <a:schemeClr val="tx1"/>
              </a:solidFill>
              <a:latin typeface="Aptos" panose="020B0004020202020204" pitchFamily="34" charset="0"/>
            </a:rPr>
            <a:t>Complex and confusing government procedures</a:t>
          </a:r>
          <a:endParaRPr lang="en-US" dirty="0">
            <a:solidFill>
              <a:schemeClr val="tx1"/>
            </a:solidFill>
            <a:latin typeface="Aptos" panose="020B0004020202020204" pitchFamily="34" charset="0"/>
          </a:endParaRPr>
        </a:p>
      </dgm:t>
    </dgm:pt>
    <dgm:pt modelId="{98B0625A-20AA-492D-9F22-FF13359936C3}" type="parTrans" cxnId="{CDCCC91D-CFAB-4BD5-9C8D-772A21DAE90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F46AFE59-F699-4DD8-B6AD-DB552F9AFBF0}" type="sibTrans" cxnId="{CDCCC91D-CFAB-4BD5-9C8D-772A21DAE90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2E6A525B-6AE8-49BA-9A2A-E910D22C4619}">
      <dgm:prSet phldrT="[Text]"/>
      <dgm:spPr>
        <a:noFill/>
        <a:ln w="28575">
          <a:solidFill>
            <a:srgbClr val="0070C0"/>
          </a:solidFill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  <a:latin typeface="Aptos" panose="020B0004020202020204" pitchFamily="34" charset="0"/>
            </a:rPr>
            <a:t>Inconsistent and unclear information </a:t>
          </a:r>
          <a:endParaRPr lang="en-US" dirty="0">
            <a:solidFill>
              <a:schemeClr val="tx1"/>
            </a:solidFill>
            <a:latin typeface="Aptos" panose="020B0004020202020204" pitchFamily="34" charset="0"/>
          </a:endParaRPr>
        </a:p>
      </dgm:t>
    </dgm:pt>
    <dgm:pt modelId="{CCFD339E-7CEF-4C20-84DA-934A0B2EA9D6}" type="parTrans" cxnId="{B90D51A8-3F1E-4D17-90CB-E8452DE0F060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9A198CBA-8785-4047-8F3C-B78F5C890C7B}" type="sibTrans" cxnId="{B90D51A8-3F1E-4D17-90CB-E8452DE0F060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5A18F237-096E-484E-95D9-48E955E0BFD8}">
      <dgm:prSet phldrT="[Text]"/>
      <dgm:spPr>
        <a:noFill/>
        <a:ln w="28575">
          <a:solidFill>
            <a:srgbClr val="C00000"/>
          </a:solidFill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  <a:latin typeface="Aptos" panose="020B0004020202020204" pitchFamily="34" charset="0"/>
            </a:rPr>
            <a:t>Lack of centralized guidance system</a:t>
          </a:r>
          <a:endParaRPr lang="en-US" dirty="0">
            <a:solidFill>
              <a:schemeClr val="tx1"/>
            </a:solidFill>
            <a:latin typeface="Aptos" panose="020B0004020202020204" pitchFamily="34" charset="0"/>
          </a:endParaRPr>
        </a:p>
      </dgm:t>
    </dgm:pt>
    <dgm:pt modelId="{0FEC7237-B986-4580-A634-766B36F2ECDD}" type="parTrans" cxnId="{210BE982-3D27-42A3-819E-5C012D66E1B0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43BC6B0-ED74-4F88-B43C-D469DD6834B2}" type="sibTrans" cxnId="{210BE982-3D27-42A3-819E-5C012D66E1B0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606E58F3-DB44-4468-AB71-09D6875B05FA}">
      <dgm:prSet/>
      <dgm:spPr>
        <a:noFill/>
        <a:ln w="28575">
          <a:solidFill>
            <a:schemeClr val="tx1">
              <a:lumMod val="75000"/>
              <a:lumOff val="25000"/>
            </a:schemeClr>
          </a:solidFill>
        </a:ln>
      </dgm:spPr>
      <dgm:t>
        <a:bodyPr/>
        <a:lstStyle/>
        <a:p>
          <a:r>
            <a:rPr lang="en-US" b="1" dirty="0">
              <a:solidFill>
                <a:schemeClr val="tx1"/>
              </a:solidFill>
              <a:latin typeface="Aptos" panose="020B0004020202020204" pitchFamily="34" charset="0"/>
            </a:rPr>
            <a:t>Need for conversational AI based assistance</a:t>
          </a:r>
          <a:endParaRPr lang="en-US" dirty="0">
            <a:solidFill>
              <a:schemeClr val="tx1"/>
            </a:solidFill>
            <a:latin typeface="Aptos" panose="020B0004020202020204" pitchFamily="34" charset="0"/>
          </a:endParaRPr>
        </a:p>
      </dgm:t>
    </dgm:pt>
    <dgm:pt modelId="{7C6ECCDC-65D7-4A8E-98CE-08D8F988EC14}" type="parTrans" cxnId="{13C0D807-1AE7-449B-931D-EE128D5DAE48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6DE355A4-F66C-45B5-96CD-1232212F7C43}" type="sibTrans" cxnId="{13C0D807-1AE7-449B-931D-EE128D5DAE48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A311D16C-2D81-4128-8014-2DFF0631EC6A}" type="pres">
      <dgm:prSet presAssocID="{4D64FE49-0D1A-4742-9FA1-90F252A16C82}" presName="Name0" presStyleCnt="0">
        <dgm:presLayoutVars>
          <dgm:chMax val="7"/>
          <dgm:chPref val="7"/>
          <dgm:dir/>
        </dgm:presLayoutVars>
      </dgm:prSet>
      <dgm:spPr/>
    </dgm:pt>
    <dgm:pt modelId="{51C8D49C-9C40-4FA6-80CB-F3D046252DC9}" type="pres">
      <dgm:prSet presAssocID="{4D64FE49-0D1A-4742-9FA1-90F252A16C82}" presName="Name1" presStyleCnt="0"/>
      <dgm:spPr/>
    </dgm:pt>
    <dgm:pt modelId="{2D785BFA-8D4D-4E32-B827-95971D5EE946}" type="pres">
      <dgm:prSet presAssocID="{4D64FE49-0D1A-4742-9FA1-90F252A16C82}" presName="cycle" presStyleCnt="0"/>
      <dgm:spPr/>
    </dgm:pt>
    <dgm:pt modelId="{00A85032-F4B4-4D93-B03B-A75DF24BD757}" type="pres">
      <dgm:prSet presAssocID="{4D64FE49-0D1A-4742-9FA1-90F252A16C82}" presName="srcNode" presStyleLbl="node1" presStyleIdx="0" presStyleCnt="4"/>
      <dgm:spPr/>
    </dgm:pt>
    <dgm:pt modelId="{DA4DF360-9821-491F-AB63-912BD618A826}" type="pres">
      <dgm:prSet presAssocID="{4D64FE49-0D1A-4742-9FA1-90F252A16C82}" presName="conn" presStyleLbl="parChTrans1D2" presStyleIdx="0" presStyleCnt="1"/>
      <dgm:spPr/>
    </dgm:pt>
    <dgm:pt modelId="{52068888-CB74-41B8-99A1-F32D416C5AB0}" type="pres">
      <dgm:prSet presAssocID="{4D64FE49-0D1A-4742-9FA1-90F252A16C82}" presName="extraNode" presStyleLbl="node1" presStyleIdx="0" presStyleCnt="4"/>
      <dgm:spPr/>
    </dgm:pt>
    <dgm:pt modelId="{87C1BA63-4C11-44A4-8A20-75952AAFEFB4}" type="pres">
      <dgm:prSet presAssocID="{4D64FE49-0D1A-4742-9FA1-90F252A16C82}" presName="dstNode" presStyleLbl="node1" presStyleIdx="0" presStyleCnt="4"/>
      <dgm:spPr/>
    </dgm:pt>
    <dgm:pt modelId="{C2025DE1-C5D7-4A5A-9B73-CBED4409D45E}" type="pres">
      <dgm:prSet presAssocID="{5EB44E9E-49E4-4654-8D36-B6613844105E}" presName="text_1" presStyleLbl="node1" presStyleIdx="0" presStyleCnt="4">
        <dgm:presLayoutVars>
          <dgm:bulletEnabled val="1"/>
        </dgm:presLayoutVars>
      </dgm:prSet>
      <dgm:spPr/>
    </dgm:pt>
    <dgm:pt modelId="{900C2D2A-606B-4072-B942-2D26A94C3B5B}" type="pres">
      <dgm:prSet presAssocID="{5EB44E9E-49E4-4654-8D36-B6613844105E}" presName="accent_1" presStyleCnt="0"/>
      <dgm:spPr/>
    </dgm:pt>
    <dgm:pt modelId="{13847CBD-3128-4F3F-AB7F-E7EA5A4F4631}" type="pres">
      <dgm:prSet presAssocID="{5EB44E9E-49E4-4654-8D36-B6613844105E}" presName="accentRepeatNode" presStyleLbl="solidFgAcc1" presStyleIdx="0" presStyleCnt="4"/>
      <dgm:spPr>
        <a:solidFill>
          <a:srgbClr val="009E6F"/>
        </a:solidFill>
        <a:ln>
          <a:noFill/>
        </a:ln>
      </dgm:spPr>
    </dgm:pt>
    <dgm:pt modelId="{637EFDD7-6DC9-4332-A238-81BE2A3F273F}" type="pres">
      <dgm:prSet presAssocID="{2E6A525B-6AE8-49BA-9A2A-E910D22C4619}" presName="text_2" presStyleLbl="node1" presStyleIdx="1" presStyleCnt="4">
        <dgm:presLayoutVars>
          <dgm:bulletEnabled val="1"/>
        </dgm:presLayoutVars>
      </dgm:prSet>
      <dgm:spPr/>
    </dgm:pt>
    <dgm:pt modelId="{189818A9-1B62-4FA7-8ACE-F5E129320E94}" type="pres">
      <dgm:prSet presAssocID="{2E6A525B-6AE8-49BA-9A2A-E910D22C4619}" presName="accent_2" presStyleCnt="0"/>
      <dgm:spPr/>
    </dgm:pt>
    <dgm:pt modelId="{102DBB05-32BC-4827-86A6-BCA9FFBDAB28}" type="pres">
      <dgm:prSet presAssocID="{2E6A525B-6AE8-49BA-9A2A-E910D22C4619}" presName="accentRepeatNode" presStyleLbl="solidFgAcc1" presStyleIdx="1" presStyleCnt="4"/>
      <dgm:spPr>
        <a:solidFill>
          <a:srgbClr val="0070C0"/>
        </a:solidFill>
      </dgm:spPr>
    </dgm:pt>
    <dgm:pt modelId="{63EC1110-2396-4408-AA73-D62B4B099897}" type="pres">
      <dgm:prSet presAssocID="{5A18F237-096E-484E-95D9-48E955E0BFD8}" presName="text_3" presStyleLbl="node1" presStyleIdx="2" presStyleCnt="4">
        <dgm:presLayoutVars>
          <dgm:bulletEnabled val="1"/>
        </dgm:presLayoutVars>
      </dgm:prSet>
      <dgm:spPr/>
    </dgm:pt>
    <dgm:pt modelId="{54A17FA3-E09A-4D06-8906-64293458A4B2}" type="pres">
      <dgm:prSet presAssocID="{5A18F237-096E-484E-95D9-48E955E0BFD8}" presName="accent_3" presStyleCnt="0"/>
      <dgm:spPr/>
    </dgm:pt>
    <dgm:pt modelId="{50445D4D-8659-425E-A696-74909880B11B}" type="pres">
      <dgm:prSet presAssocID="{5A18F237-096E-484E-95D9-48E955E0BFD8}" presName="accentRepeatNode" presStyleLbl="solidFgAcc1" presStyleIdx="2" presStyleCnt="4"/>
      <dgm:spPr>
        <a:solidFill>
          <a:srgbClr val="C00000"/>
        </a:solidFill>
      </dgm:spPr>
    </dgm:pt>
    <dgm:pt modelId="{211A0928-7F98-4F7D-9FBE-18E74CA2E05F}" type="pres">
      <dgm:prSet presAssocID="{606E58F3-DB44-4468-AB71-09D6875B05FA}" presName="text_4" presStyleLbl="node1" presStyleIdx="3" presStyleCnt="4">
        <dgm:presLayoutVars>
          <dgm:bulletEnabled val="1"/>
        </dgm:presLayoutVars>
      </dgm:prSet>
      <dgm:spPr/>
    </dgm:pt>
    <dgm:pt modelId="{A443B9A4-D3BE-4EA3-B2AF-7149971F419F}" type="pres">
      <dgm:prSet presAssocID="{606E58F3-DB44-4468-AB71-09D6875B05FA}" presName="accent_4" presStyleCnt="0"/>
      <dgm:spPr/>
    </dgm:pt>
    <dgm:pt modelId="{E6217848-0D79-4B9E-B529-6CA9FF82E04B}" type="pres">
      <dgm:prSet presAssocID="{606E58F3-DB44-4468-AB71-09D6875B05FA}" presName="accentRepeatNode" presStyleLbl="solidFgAcc1" presStyleIdx="3" presStyleCnt="4"/>
      <dgm:spPr>
        <a:solidFill>
          <a:schemeClr val="tx1">
            <a:lumMod val="75000"/>
            <a:lumOff val="25000"/>
          </a:schemeClr>
        </a:solidFill>
      </dgm:spPr>
    </dgm:pt>
  </dgm:ptLst>
  <dgm:cxnLst>
    <dgm:cxn modelId="{13C0D807-1AE7-449B-931D-EE128D5DAE48}" srcId="{4D64FE49-0D1A-4742-9FA1-90F252A16C82}" destId="{606E58F3-DB44-4468-AB71-09D6875B05FA}" srcOrd="3" destOrd="0" parTransId="{7C6ECCDC-65D7-4A8E-98CE-08D8F988EC14}" sibTransId="{6DE355A4-F66C-45B5-96CD-1232212F7C43}"/>
    <dgm:cxn modelId="{CDCCC91D-CFAB-4BD5-9C8D-772A21DAE906}" srcId="{4D64FE49-0D1A-4742-9FA1-90F252A16C82}" destId="{5EB44E9E-49E4-4654-8D36-B6613844105E}" srcOrd="0" destOrd="0" parTransId="{98B0625A-20AA-492D-9F22-FF13359936C3}" sibTransId="{F46AFE59-F699-4DD8-B6AD-DB552F9AFBF0}"/>
    <dgm:cxn modelId="{66E20223-6F47-4078-A72F-8FED8F93211E}" type="presOf" srcId="{5EB44E9E-49E4-4654-8D36-B6613844105E}" destId="{C2025DE1-C5D7-4A5A-9B73-CBED4409D45E}" srcOrd="0" destOrd="0" presId="urn:microsoft.com/office/officeart/2008/layout/VerticalCurvedList"/>
    <dgm:cxn modelId="{609B4A33-9AAE-4E62-8637-29FE6E8CF4FD}" type="presOf" srcId="{2E6A525B-6AE8-49BA-9A2A-E910D22C4619}" destId="{637EFDD7-6DC9-4332-A238-81BE2A3F273F}" srcOrd="0" destOrd="0" presId="urn:microsoft.com/office/officeart/2008/layout/VerticalCurvedList"/>
    <dgm:cxn modelId="{26C46B6D-D23B-46EC-9B12-EA8C9700D8F0}" type="presOf" srcId="{606E58F3-DB44-4468-AB71-09D6875B05FA}" destId="{211A0928-7F98-4F7D-9FBE-18E74CA2E05F}" srcOrd="0" destOrd="0" presId="urn:microsoft.com/office/officeart/2008/layout/VerticalCurvedList"/>
    <dgm:cxn modelId="{210BE982-3D27-42A3-819E-5C012D66E1B0}" srcId="{4D64FE49-0D1A-4742-9FA1-90F252A16C82}" destId="{5A18F237-096E-484E-95D9-48E955E0BFD8}" srcOrd="2" destOrd="0" parTransId="{0FEC7237-B986-4580-A634-766B36F2ECDD}" sibTransId="{D43BC6B0-ED74-4F88-B43C-D469DD6834B2}"/>
    <dgm:cxn modelId="{B90D51A8-3F1E-4D17-90CB-E8452DE0F060}" srcId="{4D64FE49-0D1A-4742-9FA1-90F252A16C82}" destId="{2E6A525B-6AE8-49BA-9A2A-E910D22C4619}" srcOrd="1" destOrd="0" parTransId="{CCFD339E-7CEF-4C20-84DA-934A0B2EA9D6}" sibTransId="{9A198CBA-8785-4047-8F3C-B78F5C890C7B}"/>
    <dgm:cxn modelId="{26654CD2-D828-4512-9068-38FEE121A439}" type="presOf" srcId="{4D64FE49-0D1A-4742-9FA1-90F252A16C82}" destId="{A311D16C-2D81-4128-8014-2DFF0631EC6A}" srcOrd="0" destOrd="0" presId="urn:microsoft.com/office/officeart/2008/layout/VerticalCurvedList"/>
    <dgm:cxn modelId="{542972D2-0B2E-4CD8-9FD1-11137CBFD23E}" type="presOf" srcId="{F46AFE59-F699-4DD8-B6AD-DB552F9AFBF0}" destId="{DA4DF360-9821-491F-AB63-912BD618A826}" srcOrd="0" destOrd="0" presId="urn:microsoft.com/office/officeart/2008/layout/VerticalCurvedList"/>
    <dgm:cxn modelId="{7B7FB3E5-F5A7-470B-B967-8654EFB3D57F}" type="presOf" srcId="{5A18F237-096E-484E-95D9-48E955E0BFD8}" destId="{63EC1110-2396-4408-AA73-D62B4B099897}" srcOrd="0" destOrd="0" presId="urn:microsoft.com/office/officeart/2008/layout/VerticalCurvedList"/>
    <dgm:cxn modelId="{C71FA520-41FA-423B-81F0-7D006338CC55}" type="presParOf" srcId="{A311D16C-2D81-4128-8014-2DFF0631EC6A}" destId="{51C8D49C-9C40-4FA6-80CB-F3D046252DC9}" srcOrd="0" destOrd="0" presId="urn:microsoft.com/office/officeart/2008/layout/VerticalCurvedList"/>
    <dgm:cxn modelId="{EF3E444A-FE9F-45D0-B488-B5396CBE1700}" type="presParOf" srcId="{51C8D49C-9C40-4FA6-80CB-F3D046252DC9}" destId="{2D785BFA-8D4D-4E32-B827-95971D5EE946}" srcOrd="0" destOrd="0" presId="urn:microsoft.com/office/officeart/2008/layout/VerticalCurvedList"/>
    <dgm:cxn modelId="{3D72D9B8-4100-4D69-A2A1-AA69F35F65F1}" type="presParOf" srcId="{2D785BFA-8D4D-4E32-B827-95971D5EE946}" destId="{00A85032-F4B4-4D93-B03B-A75DF24BD757}" srcOrd="0" destOrd="0" presId="urn:microsoft.com/office/officeart/2008/layout/VerticalCurvedList"/>
    <dgm:cxn modelId="{FD896FB8-3FE4-470A-BB35-88DD65C11A5E}" type="presParOf" srcId="{2D785BFA-8D4D-4E32-B827-95971D5EE946}" destId="{DA4DF360-9821-491F-AB63-912BD618A826}" srcOrd="1" destOrd="0" presId="urn:microsoft.com/office/officeart/2008/layout/VerticalCurvedList"/>
    <dgm:cxn modelId="{7D0A3E32-99C8-452A-82B8-8FDFA7C5EB5F}" type="presParOf" srcId="{2D785BFA-8D4D-4E32-B827-95971D5EE946}" destId="{52068888-CB74-41B8-99A1-F32D416C5AB0}" srcOrd="2" destOrd="0" presId="urn:microsoft.com/office/officeart/2008/layout/VerticalCurvedList"/>
    <dgm:cxn modelId="{977450E1-FCCA-4DFD-B029-95BF79B774DA}" type="presParOf" srcId="{2D785BFA-8D4D-4E32-B827-95971D5EE946}" destId="{87C1BA63-4C11-44A4-8A20-75952AAFEFB4}" srcOrd="3" destOrd="0" presId="urn:microsoft.com/office/officeart/2008/layout/VerticalCurvedList"/>
    <dgm:cxn modelId="{73AFE879-B066-4AC1-B4E9-9CADF37DC755}" type="presParOf" srcId="{51C8D49C-9C40-4FA6-80CB-F3D046252DC9}" destId="{C2025DE1-C5D7-4A5A-9B73-CBED4409D45E}" srcOrd="1" destOrd="0" presId="urn:microsoft.com/office/officeart/2008/layout/VerticalCurvedList"/>
    <dgm:cxn modelId="{2FAB2DC1-8751-4E15-856D-20D1FAB6DEAB}" type="presParOf" srcId="{51C8D49C-9C40-4FA6-80CB-F3D046252DC9}" destId="{900C2D2A-606B-4072-B942-2D26A94C3B5B}" srcOrd="2" destOrd="0" presId="urn:microsoft.com/office/officeart/2008/layout/VerticalCurvedList"/>
    <dgm:cxn modelId="{E004C399-68D5-4E50-BFCF-FC17621CC4EC}" type="presParOf" srcId="{900C2D2A-606B-4072-B942-2D26A94C3B5B}" destId="{13847CBD-3128-4F3F-AB7F-E7EA5A4F4631}" srcOrd="0" destOrd="0" presId="urn:microsoft.com/office/officeart/2008/layout/VerticalCurvedList"/>
    <dgm:cxn modelId="{1FC70C4E-0CF3-4E9F-ACF6-823112C75D4A}" type="presParOf" srcId="{51C8D49C-9C40-4FA6-80CB-F3D046252DC9}" destId="{637EFDD7-6DC9-4332-A238-81BE2A3F273F}" srcOrd="3" destOrd="0" presId="urn:microsoft.com/office/officeart/2008/layout/VerticalCurvedList"/>
    <dgm:cxn modelId="{DE3EBBBA-ECCD-4C88-98D3-DA83463C6AC2}" type="presParOf" srcId="{51C8D49C-9C40-4FA6-80CB-F3D046252DC9}" destId="{189818A9-1B62-4FA7-8ACE-F5E129320E94}" srcOrd="4" destOrd="0" presId="urn:microsoft.com/office/officeart/2008/layout/VerticalCurvedList"/>
    <dgm:cxn modelId="{0300C71E-31AC-4BB1-8AEA-16099F9F232A}" type="presParOf" srcId="{189818A9-1B62-4FA7-8ACE-F5E129320E94}" destId="{102DBB05-32BC-4827-86A6-BCA9FFBDAB28}" srcOrd="0" destOrd="0" presId="urn:microsoft.com/office/officeart/2008/layout/VerticalCurvedList"/>
    <dgm:cxn modelId="{B9EB1907-4969-4C35-BC33-67DB18AC4C4A}" type="presParOf" srcId="{51C8D49C-9C40-4FA6-80CB-F3D046252DC9}" destId="{63EC1110-2396-4408-AA73-D62B4B099897}" srcOrd="5" destOrd="0" presId="urn:microsoft.com/office/officeart/2008/layout/VerticalCurvedList"/>
    <dgm:cxn modelId="{B412D1CD-8DF6-42FF-B1E0-F05EC8C72C9C}" type="presParOf" srcId="{51C8D49C-9C40-4FA6-80CB-F3D046252DC9}" destId="{54A17FA3-E09A-4D06-8906-64293458A4B2}" srcOrd="6" destOrd="0" presId="urn:microsoft.com/office/officeart/2008/layout/VerticalCurvedList"/>
    <dgm:cxn modelId="{ADFE98C5-644A-41B6-B33E-79883769DC04}" type="presParOf" srcId="{54A17FA3-E09A-4D06-8906-64293458A4B2}" destId="{50445D4D-8659-425E-A696-74909880B11B}" srcOrd="0" destOrd="0" presId="urn:microsoft.com/office/officeart/2008/layout/VerticalCurvedList"/>
    <dgm:cxn modelId="{E196E6D8-6A3B-4DFD-87C5-82F23A7BEFBE}" type="presParOf" srcId="{51C8D49C-9C40-4FA6-80CB-F3D046252DC9}" destId="{211A0928-7F98-4F7D-9FBE-18E74CA2E05F}" srcOrd="7" destOrd="0" presId="urn:microsoft.com/office/officeart/2008/layout/VerticalCurvedList"/>
    <dgm:cxn modelId="{AEA2FF1A-3C73-438B-863E-DFE4CAE9E7B1}" type="presParOf" srcId="{51C8D49C-9C40-4FA6-80CB-F3D046252DC9}" destId="{A443B9A4-D3BE-4EA3-B2AF-7149971F419F}" srcOrd="8" destOrd="0" presId="urn:microsoft.com/office/officeart/2008/layout/VerticalCurvedList"/>
    <dgm:cxn modelId="{25715FB3-9434-4FA7-92BF-624F74746272}" type="presParOf" srcId="{A443B9A4-D3BE-4EA3-B2AF-7149971F419F}" destId="{E6217848-0D79-4B9E-B529-6CA9FF82E04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4DF360-9821-491F-AB63-912BD618A826}">
      <dsp:nvSpPr>
        <dsp:cNvPr id="0" name=""/>
        <dsp:cNvSpPr/>
      </dsp:nvSpPr>
      <dsp:spPr>
        <a:xfrm>
          <a:off x="-5410517" y="-828489"/>
          <a:ext cx="6442381" cy="6442381"/>
        </a:xfrm>
        <a:prstGeom prst="blockArc">
          <a:avLst>
            <a:gd name="adj1" fmla="val 18900000"/>
            <a:gd name="adj2" fmla="val 2700000"/>
            <a:gd name="adj3" fmla="val 335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025DE1-C5D7-4A5A-9B73-CBED4409D45E}">
      <dsp:nvSpPr>
        <dsp:cNvPr id="0" name=""/>
        <dsp:cNvSpPr/>
      </dsp:nvSpPr>
      <dsp:spPr>
        <a:xfrm>
          <a:off x="540208" y="367901"/>
          <a:ext cx="7509990" cy="736186"/>
        </a:xfrm>
        <a:prstGeom prst="rect">
          <a:avLst/>
        </a:prstGeom>
        <a:noFill/>
        <a:ln w="28575" cap="flat" cmpd="sng" algn="ctr">
          <a:solidFill>
            <a:srgbClr val="009E6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348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2400" b="1" kern="1200" dirty="0">
              <a:solidFill>
                <a:schemeClr val="tx1"/>
              </a:solidFill>
              <a:latin typeface="Aptos" panose="020B0004020202020204" pitchFamily="34" charset="0"/>
            </a:rPr>
            <a:t>Complex and confusing government procedures</a:t>
          </a:r>
          <a:endParaRPr lang="en-US" sz="2400" kern="1200" dirty="0">
            <a:solidFill>
              <a:schemeClr val="tx1"/>
            </a:solidFill>
            <a:latin typeface="Aptos" panose="020B0004020202020204" pitchFamily="34" charset="0"/>
          </a:endParaRPr>
        </a:p>
      </dsp:txBody>
      <dsp:txXfrm>
        <a:off x="540208" y="367901"/>
        <a:ext cx="7509990" cy="736186"/>
      </dsp:txXfrm>
    </dsp:sp>
    <dsp:sp modelId="{13847CBD-3128-4F3F-AB7F-E7EA5A4F4631}">
      <dsp:nvSpPr>
        <dsp:cNvPr id="0" name=""/>
        <dsp:cNvSpPr/>
      </dsp:nvSpPr>
      <dsp:spPr>
        <a:xfrm>
          <a:off x="80092" y="275878"/>
          <a:ext cx="920232" cy="920232"/>
        </a:xfrm>
        <a:prstGeom prst="ellipse">
          <a:avLst/>
        </a:prstGeom>
        <a:solidFill>
          <a:srgbClr val="009E6F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7EFDD7-6DC9-4332-A238-81BE2A3F273F}">
      <dsp:nvSpPr>
        <dsp:cNvPr id="0" name=""/>
        <dsp:cNvSpPr/>
      </dsp:nvSpPr>
      <dsp:spPr>
        <a:xfrm>
          <a:off x="962281" y="1472372"/>
          <a:ext cx="7087918" cy="736186"/>
        </a:xfrm>
        <a:prstGeom prst="rect">
          <a:avLst/>
        </a:prstGeom>
        <a:noFill/>
        <a:ln w="28575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348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Aptos" panose="020B0004020202020204" pitchFamily="34" charset="0"/>
            </a:rPr>
            <a:t>Inconsistent and unclear information </a:t>
          </a:r>
          <a:endParaRPr lang="en-US" sz="2400" kern="1200" dirty="0">
            <a:solidFill>
              <a:schemeClr val="tx1"/>
            </a:solidFill>
            <a:latin typeface="Aptos" panose="020B0004020202020204" pitchFamily="34" charset="0"/>
          </a:endParaRPr>
        </a:p>
      </dsp:txBody>
      <dsp:txXfrm>
        <a:off x="962281" y="1472372"/>
        <a:ext cx="7087918" cy="736186"/>
      </dsp:txXfrm>
    </dsp:sp>
    <dsp:sp modelId="{102DBB05-32BC-4827-86A6-BCA9FFBDAB28}">
      <dsp:nvSpPr>
        <dsp:cNvPr id="0" name=""/>
        <dsp:cNvSpPr/>
      </dsp:nvSpPr>
      <dsp:spPr>
        <a:xfrm>
          <a:off x="502164" y="1380349"/>
          <a:ext cx="920232" cy="920232"/>
        </a:xfrm>
        <a:prstGeom prst="ellipse">
          <a:avLst/>
        </a:prstGeom>
        <a:solidFill>
          <a:srgbClr val="0070C0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EC1110-2396-4408-AA73-D62B4B099897}">
      <dsp:nvSpPr>
        <dsp:cNvPr id="0" name=""/>
        <dsp:cNvSpPr/>
      </dsp:nvSpPr>
      <dsp:spPr>
        <a:xfrm>
          <a:off x="962281" y="2576843"/>
          <a:ext cx="7087918" cy="736186"/>
        </a:xfrm>
        <a:prstGeom prst="rect">
          <a:avLst/>
        </a:prstGeom>
        <a:noFill/>
        <a:ln w="28575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348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Aptos" panose="020B0004020202020204" pitchFamily="34" charset="0"/>
            </a:rPr>
            <a:t>Lack of centralized guidance system</a:t>
          </a:r>
          <a:endParaRPr lang="en-US" sz="2400" kern="1200" dirty="0">
            <a:solidFill>
              <a:schemeClr val="tx1"/>
            </a:solidFill>
            <a:latin typeface="Aptos" panose="020B0004020202020204" pitchFamily="34" charset="0"/>
          </a:endParaRPr>
        </a:p>
      </dsp:txBody>
      <dsp:txXfrm>
        <a:off x="962281" y="2576843"/>
        <a:ext cx="7087918" cy="736186"/>
      </dsp:txXfrm>
    </dsp:sp>
    <dsp:sp modelId="{50445D4D-8659-425E-A696-74909880B11B}">
      <dsp:nvSpPr>
        <dsp:cNvPr id="0" name=""/>
        <dsp:cNvSpPr/>
      </dsp:nvSpPr>
      <dsp:spPr>
        <a:xfrm>
          <a:off x="502164" y="2484820"/>
          <a:ext cx="920232" cy="920232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1A0928-7F98-4F7D-9FBE-18E74CA2E05F}">
      <dsp:nvSpPr>
        <dsp:cNvPr id="0" name=""/>
        <dsp:cNvSpPr/>
      </dsp:nvSpPr>
      <dsp:spPr>
        <a:xfrm>
          <a:off x="540208" y="3681314"/>
          <a:ext cx="7509990" cy="736186"/>
        </a:xfrm>
        <a:prstGeom prst="rect">
          <a:avLst/>
        </a:prstGeom>
        <a:noFill/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348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Aptos" panose="020B0004020202020204" pitchFamily="34" charset="0"/>
            </a:rPr>
            <a:t>Need for conversational AI based assistance</a:t>
          </a:r>
          <a:endParaRPr lang="en-US" sz="2400" kern="1200" dirty="0">
            <a:solidFill>
              <a:schemeClr val="tx1"/>
            </a:solidFill>
            <a:latin typeface="Aptos" panose="020B0004020202020204" pitchFamily="34" charset="0"/>
          </a:endParaRPr>
        </a:p>
      </dsp:txBody>
      <dsp:txXfrm>
        <a:off x="540208" y="3681314"/>
        <a:ext cx="7509990" cy="736186"/>
      </dsp:txXfrm>
    </dsp:sp>
    <dsp:sp modelId="{E6217848-0D79-4B9E-B529-6CA9FF82E04B}">
      <dsp:nvSpPr>
        <dsp:cNvPr id="0" name=""/>
        <dsp:cNvSpPr/>
      </dsp:nvSpPr>
      <dsp:spPr>
        <a:xfrm>
          <a:off x="80092" y="3589291"/>
          <a:ext cx="920232" cy="920232"/>
        </a:xfrm>
        <a:prstGeom prst="ellipse">
          <a:avLst/>
        </a:prstGeom>
        <a:solidFill>
          <a:schemeClr val="tx1">
            <a:lumMod val="75000"/>
            <a:lumOff val="2500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8C5AED5-6BB1-9D97-A0D4-3AA6080C16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C0927F-92F1-B5C3-92C5-C51F621294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2AA52-BF69-4911-9C4A-BC693E899FB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EF62B-D278-73A6-CE73-C78A08DEA5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304C3-E36D-EF46-D033-C0697FBAD0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090B6B-148D-4457-BCE2-59BB162DBF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670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40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56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EAC3F-B04A-3920-1494-CC3FA3765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A650D-E2AE-2226-1BFA-EFC4A8D64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42E08-9160-4179-5EFA-28CD794AC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89023-C391-7F31-AF71-096FB8040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71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B1C2B-ED42-B882-4FD6-E3CA70F4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43BE6-67E5-A8C7-DF20-318A85470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F4E1A-C4FC-7837-8A68-C14ED19A3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CE0D8-5B32-1B8A-86F9-3FF6306BB3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953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31D83-6298-1E6F-1515-DED84B6FB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99D146-4F5F-6A4F-7642-A5394F9A2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BC167-4AEB-48E8-8B3F-EEC147197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47564-E41C-12F7-6652-7C4F9A628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9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09A2F-1302-08C4-D5DE-E25BF1F0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FBA4B-5024-2D7E-CB2C-B43A312E9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686A6-D7B7-236A-5320-3DC5D213B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709CF-51A3-A81D-1B1E-0547B7C22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10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8CDE0-C400-1E9B-50B6-FC61A71A3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B64FF-DF6C-8998-F314-727948056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179F76-DBC3-2E72-F602-54CC3B3F3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259A6-F2C8-D69B-2BE4-9918B6B07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05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1608C-83A9-12C3-C694-46A3F50A0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0A63C-4876-E8CF-EB70-8F63A9328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EA1E6-59E5-0735-D224-0AE427A18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8B71B-8A16-5619-5F94-117FB94F7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69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1071-FA39-9655-FF96-AF08B967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E6619-FA95-2690-B967-B5EB100E9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C0D92-64BF-4B99-2FF2-4437F0D0E7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96735-3B18-97D2-ABBF-2ED0EF40A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15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BBE79-59BF-A3B3-6387-F9DC848DF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0F5A42-4FEF-344E-74B5-F135DFE0B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F0121-99C7-D961-E11D-F340AB40F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EE82D-047E-8BDD-0083-174DFB5AB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47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A72EC-069A-9B43-DFF6-507B9557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4336FC-8E99-98A8-74FE-B1A8BA539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778901-2D34-FD1D-D7B9-6CCA4E2C2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10341-3507-D780-2566-4E715A362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33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776C-5917-3632-26CC-0C962765F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ED86DD-CE0B-2EFA-2075-C533C336E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B6B60-F032-34E1-3B38-4000DE2CD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0C8A0-C21D-18E4-0FE7-F25BC439D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541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FAE61-FB34-BE77-CCCA-DF8C7EA41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74154-4ACB-B139-1EAA-94EF59716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D5416-CD4A-6A45-0A80-7E80A0B3D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E85D1-D4C3-28C5-5DA9-F9840BE5B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90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1637-0922-1C27-5539-10F6698C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9188-B6A7-6575-881D-D89E7499C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BD49CC-7AE5-8D56-0215-0422217AD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25048-7C57-B9D2-ED1B-F525DF5CB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204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68F35-8146-5851-E09D-1940B8E6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3D969-0CCC-B8B4-91C2-9D757CE20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050EC-F6D6-A3E9-B8C7-13BFB5512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9594D-9A01-1BDC-C6DA-9C0C34A6A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538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CBB8-8430-3E13-875F-858109D2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C8DFC-0E87-9929-912F-B4A258830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2020F-18FC-4372-E25F-7CE86E110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6BC1D-95E6-FDC2-E7E9-7B2CCE2F7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177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B9999-BAB4-7521-6088-62154742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AAADF-D781-83E3-3D3F-5630EE98B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837414-ACB2-6E76-6D88-9174D1A39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A051D-1049-35AA-7413-34986255FB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986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75758-1600-9566-BDF1-BA12312C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3084A3-B397-E04A-B8DE-D5B2152D6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E715BC-416A-400C-82EC-69B3E21EE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AECC7-B2C4-C2AA-DC55-4C0413D7B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01C38D-F26D-4167-83EF-8774BC62D54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14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gradFill flip="none" rotWithShape="1">
            <a:gsLst>
              <a:gs pos="0">
                <a:srgbClr val="009E6F"/>
              </a:gs>
              <a:gs pos="68000">
                <a:srgbClr val="00A878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618C2-8AA6-6681-4773-420EB982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BE36D-45CB-332F-ECB4-83E05877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818F0-0389-4181-85A8-842B100AE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0F42E2-9DB7-9FBF-2478-F84C9187A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2717A-F250-5044-D619-BA81FFFE5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003F5-CAD8-BC08-BD4C-4E6B73F5E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F9016-1999-2130-32AC-E57088E90F5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88C5E-B4E8-A7B3-900F-AC8ADD7A934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610ED-D1D6-9B62-3319-4B409824E4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sz="1600"/>
            </a:lvl1pPr>
          </a:lstStyle>
          <a:p>
            <a:fld id="{3359379A-16E2-4C4A-96D0-A52C442257E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00A8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71982"/>
            <a:ext cx="9144000" cy="2914035"/>
          </a:xfrm>
        </p:spPr>
        <p:txBody>
          <a:bodyPr/>
          <a:lstStyle/>
          <a:p>
            <a:pPr algn="ctr"/>
            <a:r>
              <a:rPr lang="en-US" sz="9600" b="1" dirty="0">
                <a:latin typeface="Aptos" panose="020B0004020202020204" pitchFamily="34" charset="0"/>
              </a:rPr>
              <a:t>DOCSGUIDE</a:t>
            </a:r>
            <a:br>
              <a:rPr lang="en-US" sz="4400" b="1" dirty="0">
                <a:latin typeface="Aptos" panose="020B0004020202020204" pitchFamily="34" charset="0"/>
              </a:rPr>
            </a:br>
            <a:r>
              <a:rPr lang="en-US" sz="2400" b="1" dirty="0">
                <a:latin typeface="Aptos" panose="020B0004020202020204" pitchFamily="34" charset="0"/>
              </a:rPr>
              <a:t> An Assistant for Government Document Procedures </a:t>
            </a:r>
            <a:endParaRPr lang="en-US" sz="44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492FA-4D99-2F64-F4C0-B60B3CA57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6742BE-F9D7-379B-5ED1-80196A40D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9E6F"/>
                </a:solidFill>
                <a:latin typeface="Aptos" panose="020B0004020202020204" pitchFamily="34" charset="0"/>
              </a:rPr>
              <a:t>Team Members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41AC2B46-B02D-8A8A-B524-ADA8BDF02BA1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F93EBF9-1AC3-E0E9-9923-B4854F540297}"/>
              </a:ext>
            </a:extLst>
          </p:cNvPr>
          <p:cNvGrpSpPr/>
          <p:nvPr/>
        </p:nvGrpSpPr>
        <p:grpSpPr>
          <a:xfrm>
            <a:off x="564110" y="2331589"/>
            <a:ext cx="2290916" cy="2441759"/>
            <a:chOff x="525969" y="2252931"/>
            <a:chExt cx="2290916" cy="244175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2F7DA89-F55B-9E9A-2E7F-9B8BC559B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65285" y="2252931"/>
              <a:ext cx="1412284" cy="1422658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4F32B2-29FC-5B5E-093C-13BB1CB74D6A}"/>
                </a:ext>
              </a:extLst>
            </p:cNvPr>
            <p:cNvSpPr txBox="1"/>
            <p:nvPr/>
          </p:nvSpPr>
          <p:spPr>
            <a:xfrm>
              <a:off x="525969" y="3849116"/>
              <a:ext cx="2290916" cy="422787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sz="2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Andis Paudel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DFB9E46-AA66-A340-51B4-7AE414A57FC4}"/>
                </a:ext>
              </a:extLst>
            </p:cNvPr>
            <p:cNvSpPr txBox="1"/>
            <p:nvPr/>
          </p:nvSpPr>
          <p:spPr>
            <a:xfrm>
              <a:off x="525969" y="4271903"/>
              <a:ext cx="2290916" cy="422787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 Ingestion &amp;</a:t>
              </a:r>
            </a:p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Embeddings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557ACF-11D1-F986-CE3B-E6AC0E4C5145}"/>
              </a:ext>
            </a:extLst>
          </p:cNvPr>
          <p:cNvGrpSpPr/>
          <p:nvPr/>
        </p:nvGrpSpPr>
        <p:grpSpPr>
          <a:xfrm>
            <a:off x="3474956" y="2331589"/>
            <a:ext cx="2290916" cy="2441759"/>
            <a:chOff x="525969" y="2252931"/>
            <a:chExt cx="2290916" cy="244175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FE96F1F-7BDB-7C52-8CB4-EE3AD39D7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954019" y="2252931"/>
              <a:ext cx="1434817" cy="1422658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7A6D70-268A-303D-1428-2CE785011144}"/>
                </a:ext>
              </a:extLst>
            </p:cNvPr>
            <p:cNvSpPr txBox="1"/>
            <p:nvPr/>
          </p:nvSpPr>
          <p:spPr>
            <a:xfrm>
              <a:off x="525969" y="3849116"/>
              <a:ext cx="2290916" cy="422787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sz="2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Bikash Pokhrel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20566A-9F4A-79AA-9552-C4EDAF51F42B}"/>
                </a:ext>
              </a:extLst>
            </p:cNvPr>
            <p:cNvSpPr txBox="1"/>
            <p:nvPr/>
          </p:nvSpPr>
          <p:spPr>
            <a:xfrm>
              <a:off x="525969" y="4271903"/>
              <a:ext cx="2290916" cy="422787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Retriever Design &amp;</a:t>
              </a:r>
            </a:p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RAG Evaluation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5183A3-E881-25CF-12A4-626F094E970E}"/>
              </a:ext>
            </a:extLst>
          </p:cNvPr>
          <p:cNvGrpSpPr/>
          <p:nvPr/>
        </p:nvGrpSpPr>
        <p:grpSpPr>
          <a:xfrm>
            <a:off x="6385803" y="2286778"/>
            <a:ext cx="2290916" cy="2441759"/>
            <a:chOff x="525969" y="2252931"/>
            <a:chExt cx="2290916" cy="244175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3C332D5-1C8A-2F7A-FA48-C4F63FF54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960098" y="2252931"/>
              <a:ext cx="1422658" cy="1422658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136D45-D131-D79D-7A3D-3766CAA52E65}"/>
                </a:ext>
              </a:extLst>
            </p:cNvPr>
            <p:cNvSpPr txBox="1"/>
            <p:nvPr/>
          </p:nvSpPr>
          <p:spPr>
            <a:xfrm>
              <a:off x="525969" y="3849116"/>
              <a:ext cx="2290916" cy="422787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sz="2200" b="1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Dipin</a:t>
              </a:r>
              <a:r>
                <a:rPr lang="en-US" sz="2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Adhikari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DABFC38-00BC-5759-6FE1-FA32511144D9}"/>
                </a:ext>
              </a:extLst>
            </p:cNvPr>
            <p:cNvSpPr txBox="1"/>
            <p:nvPr/>
          </p:nvSpPr>
          <p:spPr>
            <a:xfrm>
              <a:off x="525969" y="4271903"/>
              <a:ext cx="2290916" cy="422787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Web App &amp; </a:t>
              </a:r>
            </a:p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Retriever Design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828269-4FE8-4434-9BE0-24004E41AB3D}"/>
              </a:ext>
            </a:extLst>
          </p:cNvPr>
          <p:cNvGrpSpPr/>
          <p:nvPr/>
        </p:nvGrpSpPr>
        <p:grpSpPr>
          <a:xfrm>
            <a:off x="9296649" y="2235159"/>
            <a:ext cx="2290916" cy="2441759"/>
            <a:chOff x="525969" y="2252931"/>
            <a:chExt cx="2290916" cy="244175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0A68937-709B-D8FC-9C5E-A288F50B8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960098" y="2252931"/>
              <a:ext cx="1422658" cy="142265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5278EFC-212F-195C-BC47-EDE9C2F58C73}"/>
                </a:ext>
              </a:extLst>
            </p:cNvPr>
            <p:cNvSpPr txBox="1"/>
            <p:nvPr/>
          </p:nvSpPr>
          <p:spPr>
            <a:xfrm>
              <a:off x="525969" y="3849116"/>
              <a:ext cx="2290916" cy="422787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sz="2200" b="1" dirty="0" err="1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Utsab</a:t>
              </a:r>
              <a:r>
                <a:rPr lang="en-US" sz="2200" b="1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Dahal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A2E8AB-A2F5-75F2-14BC-4643035A29CA}"/>
                </a:ext>
              </a:extLst>
            </p:cNvPr>
            <p:cNvSpPr txBox="1"/>
            <p:nvPr/>
          </p:nvSpPr>
          <p:spPr>
            <a:xfrm>
              <a:off x="525969" y="4271903"/>
              <a:ext cx="2290916" cy="422787"/>
            </a:xfrm>
            <a:prstGeom prst="rect">
              <a:avLst/>
            </a:prstGeom>
          </p:spPr>
          <p:txBody>
            <a:bodyPr vert="horz" wrap="none" lIns="91440" tIns="45720" rIns="91440" bIns="45720" rtlCol="0">
              <a:noAutofit/>
            </a:bodyPr>
            <a:lstStyle/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Generator Design &amp;</a:t>
              </a:r>
            </a:p>
            <a:p>
              <a:pPr marL="0" indent="0" algn="ctr">
                <a:lnSpc>
                  <a:spcPts val="1800"/>
                </a:lnSpc>
                <a:spcAft>
                  <a:spcPts val="600"/>
                </a:spcAft>
                <a:buNone/>
              </a:pPr>
              <a:r>
                <a:rPr lang="en-US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RAG Evaluation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6D716C-8D4F-1017-0D54-D0849ABFAB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80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02B03-BE0D-9E2F-4555-7A072ADF0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44B24B-4EBF-81FD-02E1-A4B9FBE5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A878"/>
                </a:solidFill>
                <a:latin typeface="Aptos" panose="020B0004020202020204" pitchFamily="34" charset="0"/>
              </a:rPr>
              <a:t>Project </a:t>
            </a:r>
            <a:r>
              <a:rPr lang="en-US" sz="4000" b="1" dirty="0">
                <a:solidFill>
                  <a:srgbClr val="009E6F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19C05235-A94A-C94F-C118-A0B0162685B9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6357DA-3BD5-19FC-8E07-3915E7241D17}"/>
              </a:ext>
            </a:extLst>
          </p:cNvPr>
          <p:cNvSpPr txBox="1"/>
          <p:nvPr/>
        </p:nvSpPr>
        <p:spPr>
          <a:xfrm>
            <a:off x="604434" y="1365603"/>
            <a:ext cx="10983130" cy="420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000" b="1" dirty="0" err="1">
                <a:latin typeface="Aptos" panose="020B0004020202020204" pitchFamily="34" charset="0"/>
              </a:rPr>
              <a:t>DocsGuide</a:t>
            </a:r>
            <a:r>
              <a:rPr lang="en-US" sz="2000" dirty="0">
                <a:latin typeface="Aptos" panose="020B0004020202020204" pitchFamily="34" charset="0"/>
              </a:rPr>
              <a:t> is an AI chatbot that helps Nepali citizens in understanding government document procedures such as obtaining citizenship certificates, passports etc.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It uses a </a:t>
            </a:r>
            <a:r>
              <a:rPr lang="en-US" sz="2000" b="1" dirty="0">
                <a:latin typeface="Aptos" panose="020B0004020202020204" pitchFamily="34" charset="0"/>
              </a:rPr>
              <a:t>Retrieval-Augmented Generation (RAG)</a:t>
            </a:r>
            <a:r>
              <a:rPr lang="en-US" sz="2000" dirty="0">
                <a:latin typeface="Aptos" panose="020B0004020202020204" pitchFamily="34" charset="0"/>
              </a:rPr>
              <a:t> model to deliver accurate, step-by-step guidance based on verified official sources.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The system supports </a:t>
            </a:r>
            <a:r>
              <a:rPr lang="en-US" sz="2000" b="1" dirty="0">
                <a:latin typeface="Aptos" panose="020B0004020202020204" pitchFamily="34" charset="0"/>
              </a:rPr>
              <a:t>both Nepali and English</a:t>
            </a:r>
            <a:r>
              <a:rPr lang="en-US" sz="2000" dirty="0">
                <a:latin typeface="Aptos" panose="020B0004020202020204" pitchFamily="34" charset="0"/>
              </a:rPr>
              <a:t>, ensuring accessibility for diverse users.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Users can </a:t>
            </a:r>
            <a:r>
              <a:rPr lang="en-US" sz="2000" b="1" dirty="0">
                <a:latin typeface="Aptos" panose="020B0004020202020204" pitchFamily="34" charset="0"/>
              </a:rPr>
              <a:t>ask questions or seek legal information</a:t>
            </a:r>
            <a:r>
              <a:rPr lang="en-US" sz="2000" dirty="0">
                <a:latin typeface="Aptos" panose="020B0004020202020204" pitchFamily="34" charset="0"/>
              </a:rPr>
              <a:t> related to government documents.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B5FD7B-484C-A13A-0841-C29EC8F0B8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9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0BDD6-DEA6-2CC9-6B6E-3577E6D5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0DF941-D3E5-94E5-A7C3-721E9422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9E6F"/>
                </a:solidFill>
                <a:latin typeface="Aptos" panose="020B0004020202020204" pitchFamily="34" charset="0"/>
              </a:rPr>
              <a:t>Problem </a:t>
            </a:r>
            <a:r>
              <a:rPr lang="en-US" sz="4000" b="1" dirty="0">
                <a:solidFill>
                  <a:srgbClr val="00A878"/>
                </a:solidFill>
                <a:latin typeface="Aptos" panose="020B0004020202020204" pitchFamily="34" charset="0"/>
              </a:rPr>
              <a:t>Statement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1D5811D3-CC81-5BC7-0B2C-A8C61FE95191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F3DFA8-4003-C1C9-B8AF-C445076AC4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2557B1B8-EE36-8669-C4A5-833D78B2C0D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7073500"/>
              </p:ext>
            </p:extLst>
          </p:nvPr>
        </p:nvGraphicFramePr>
        <p:xfrm>
          <a:off x="604433" y="1282888"/>
          <a:ext cx="8116780" cy="4785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7449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CF33A-3113-C8CB-9940-53313DC9A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0B89DE-6B00-E717-5B91-8D050FC9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A878"/>
                </a:solidFill>
                <a:latin typeface="Aptos" panose="020B0004020202020204" pitchFamily="34" charset="0"/>
              </a:rPr>
              <a:t>Objectives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84DE51FF-992D-34B5-1C53-A04FD1FBFD73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CAC4555-0DCC-A1A8-F25E-F4447C4FD248}"/>
              </a:ext>
            </a:extLst>
          </p:cNvPr>
          <p:cNvGrpSpPr/>
          <p:nvPr/>
        </p:nvGrpSpPr>
        <p:grpSpPr>
          <a:xfrm>
            <a:off x="770204" y="1659564"/>
            <a:ext cx="10817361" cy="419160"/>
            <a:chOff x="654643" y="1660589"/>
            <a:chExt cx="10817361" cy="41916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64C321E-1BB4-3CF5-3DD2-99083C5E7493}"/>
                </a:ext>
              </a:extLst>
            </p:cNvPr>
            <p:cNvSpPr/>
            <p:nvPr/>
          </p:nvSpPr>
          <p:spPr>
            <a:xfrm>
              <a:off x="654643" y="1660589"/>
              <a:ext cx="400111" cy="400111"/>
            </a:xfrm>
            <a:prstGeom prst="rect">
              <a:avLst/>
            </a:prstGeom>
            <a:solidFill>
              <a:srgbClr val="009E6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Aptos" panose="020B0004020202020204" pitchFamily="34" charset="0"/>
                </a:rPr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CA7ED6-2F57-715F-3427-53131B3B682D}"/>
                </a:ext>
              </a:extLst>
            </p:cNvPr>
            <p:cNvSpPr txBox="1"/>
            <p:nvPr/>
          </p:nvSpPr>
          <p:spPr>
            <a:xfrm>
              <a:off x="1170314" y="1679639"/>
              <a:ext cx="1030169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/>
                <a:t>To develop an AI chatbot that guides users through government document procedures.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194A98-46A4-7294-4DAB-8D00FEC66EC4}"/>
              </a:ext>
            </a:extLst>
          </p:cNvPr>
          <p:cNvGrpSpPr/>
          <p:nvPr/>
        </p:nvGrpSpPr>
        <p:grpSpPr>
          <a:xfrm>
            <a:off x="770204" y="2439492"/>
            <a:ext cx="10817361" cy="419160"/>
            <a:chOff x="654643" y="1660589"/>
            <a:chExt cx="10817361" cy="41916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C31A82-DF90-9DB0-AB8A-A21C429A624D}"/>
                </a:ext>
              </a:extLst>
            </p:cNvPr>
            <p:cNvSpPr/>
            <p:nvPr/>
          </p:nvSpPr>
          <p:spPr>
            <a:xfrm>
              <a:off x="654643" y="1660589"/>
              <a:ext cx="400111" cy="400111"/>
            </a:xfrm>
            <a:prstGeom prst="rect">
              <a:avLst/>
            </a:prstGeom>
            <a:solidFill>
              <a:srgbClr val="00A878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Aptos" panose="020B0004020202020204" pitchFamily="34" charset="0"/>
                </a:rPr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781985-9F4A-3EE2-D278-F14B4234B90B}"/>
                </a:ext>
              </a:extLst>
            </p:cNvPr>
            <p:cNvSpPr txBox="1"/>
            <p:nvPr/>
          </p:nvSpPr>
          <p:spPr>
            <a:xfrm>
              <a:off x="1170314" y="1679639"/>
              <a:ext cx="1030169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/>
                <a:t>To provide accurate, verified, and bilingual information for document related queries.</a:t>
              </a:r>
              <a:endParaRPr lang="en-US" sz="2000" dirty="0">
                <a:latin typeface="Aptos" panose="020B000402020202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58A97FC-BCE5-CCC1-D31D-3A0F40431DC4}"/>
              </a:ext>
            </a:extLst>
          </p:cNvPr>
          <p:cNvGrpSpPr/>
          <p:nvPr/>
        </p:nvGrpSpPr>
        <p:grpSpPr>
          <a:xfrm>
            <a:off x="770204" y="3219420"/>
            <a:ext cx="10817361" cy="419160"/>
            <a:chOff x="654643" y="1660589"/>
            <a:chExt cx="10817361" cy="41916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C7B9BAC-B12B-7220-9F67-1205D75BD7EC}"/>
                </a:ext>
              </a:extLst>
            </p:cNvPr>
            <p:cNvSpPr/>
            <p:nvPr/>
          </p:nvSpPr>
          <p:spPr>
            <a:xfrm>
              <a:off x="654643" y="1660589"/>
              <a:ext cx="400111" cy="400111"/>
            </a:xfrm>
            <a:prstGeom prst="rect">
              <a:avLst/>
            </a:prstGeom>
            <a:solidFill>
              <a:srgbClr val="009E6F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Aptos" panose="020B0004020202020204" pitchFamily="34" charset="0"/>
                </a:rPr>
                <a:t>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290E511-F29E-0354-E731-9B959BD446A7}"/>
                </a:ext>
              </a:extLst>
            </p:cNvPr>
            <p:cNvSpPr txBox="1"/>
            <p:nvPr/>
          </p:nvSpPr>
          <p:spPr>
            <a:xfrm>
              <a:off x="1170314" y="1679639"/>
              <a:ext cx="1030169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/>
                <a:t>Evaluate system performance based on accuracy and response quality</a:t>
              </a:r>
              <a:r>
                <a:rPr lang="en-US" sz="2000" dirty="0">
                  <a:latin typeface="Aptos" panose="020B0004020202020204" pitchFamily="34" charset="0"/>
                </a:rPr>
                <a:t>.</a:t>
              </a:r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B30A6AD-A519-1A36-9B7D-63533412E4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13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43F7-134A-C963-4329-6210724A3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A01005-3992-0289-21A2-BA358D125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A878"/>
                </a:solidFill>
                <a:latin typeface="Aptos" panose="020B0004020202020204" pitchFamily="34" charset="0"/>
              </a:rPr>
              <a:t>Methodology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38DBC6C4-50B6-6F46-66AD-32DC8FBC4BB5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5C095-E842-A4FE-9EEC-F028AC8D498D}"/>
              </a:ext>
            </a:extLst>
          </p:cNvPr>
          <p:cNvSpPr txBox="1"/>
          <p:nvPr/>
        </p:nvSpPr>
        <p:spPr>
          <a:xfrm>
            <a:off x="604434" y="2028926"/>
            <a:ext cx="11063690" cy="2664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Collected and preprocessed verified government documents related to citizenship and passport procedures (acts, rules, FAQs, guidelines).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Applied chunking strategies for efficient retrieval:</a:t>
            </a:r>
          </a:p>
          <a:p>
            <a:pPr lvl="1">
              <a:lnSpc>
                <a:spcPct val="150000"/>
              </a:lnSpc>
            </a:pPr>
            <a:r>
              <a:rPr lang="en-US" sz="2000" b="1" i="1" dirty="0">
                <a:latin typeface="Aptos" panose="020B0004020202020204" pitchFamily="34" charset="0"/>
              </a:rPr>
              <a:t>Section-based chunking </a:t>
            </a:r>
            <a:r>
              <a:rPr lang="en-US" sz="2000" dirty="0">
                <a:latin typeface="Aptos" panose="020B0004020202020204" pitchFamily="34" charset="0"/>
              </a:rPr>
              <a:t>for structured division.</a:t>
            </a:r>
          </a:p>
          <a:p>
            <a:pPr lvl="1">
              <a:lnSpc>
                <a:spcPct val="150000"/>
              </a:lnSpc>
            </a:pPr>
            <a:r>
              <a:rPr lang="en-US" sz="2000" b="1" i="1" dirty="0">
                <a:latin typeface="Aptos" panose="020B0004020202020204" pitchFamily="34" charset="0"/>
              </a:rPr>
              <a:t>Metadata assignment </a:t>
            </a:r>
            <a:r>
              <a:rPr lang="en-US" sz="2000" dirty="0">
                <a:latin typeface="Aptos" panose="020B0004020202020204" pitchFamily="34" charset="0"/>
              </a:rPr>
              <a:t>— document type, references, section/subsection, tags (question category), and source links.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0424EFC-4135-CC1C-1707-0E0A3B74AF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106A64-4059-6F95-EDE2-735250543BF0}"/>
              </a:ext>
            </a:extLst>
          </p:cNvPr>
          <p:cNvSpPr txBox="1"/>
          <p:nvPr/>
        </p:nvSpPr>
        <p:spPr>
          <a:xfrm>
            <a:off x="564154" y="1381826"/>
            <a:ext cx="11063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1. Document Collection and Chunking</a:t>
            </a:r>
          </a:p>
        </p:txBody>
      </p:sp>
    </p:spTree>
    <p:extLst>
      <p:ext uri="{BB962C8B-B14F-4D97-AF65-F5344CB8AC3E}">
        <p14:creationId xmlns:p14="http://schemas.microsoft.com/office/powerpoint/2010/main" val="969277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108D1-ADF5-A015-AB87-8DB8CC51E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443B6C-5790-6AF3-EF3C-6FAA50C8C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A878"/>
                </a:solidFill>
                <a:latin typeface="Aptos" panose="020B0004020202020204" pitchFamily="34" charset="0"/>
              </a:rPr>
              <a:t>Methodology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96BB429B-0808-25AD-99E7-6AE508950001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59D73C-D956-B8BA-AF8B-7785ECE0AD8E}"/>
              </a:ext>
            </a:extLst>
          </p:cNvPr>
          <p:cNvSpPr txBox="1"/>
          <p:nvPr/>
        </p:nvSpPr>
        <p:spPr>
          <a:xfrm>
            <a:off x="523875" y="1612658"/>
            <a:ext cx="110636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dirty="0">
              <a:latin typeface="Aptos" panose="020B00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Embedding Model </a:t>
            </a:r>
            <a:r>
              <a:rPr lang="en-US" i="1" dirty="0" err="1">
                <a:latin typeface="Aptos" panose="020B0004020202020204" pitchFamily="34" charset="0"/>
              </a:rPr>
              <a:t>universalml</a:t>
            </a:r>
            <a:r>
              <a:rPr lang="en-US" i="1" dirty="0">
                <a:latin typeface="Aptos" panose="020B0004020202020204" pitchFamily="34" charset="0"/>
              </a:rPr>
              <a:t>/</a:t>
            </a:r>
            <a:r>
              <a:rPr lang="en-US" i="1" dirty="0" err="1">
                <a:latin typeface="Aptos" panose="020B0004020202020204" pitchFamily="34" charset="0"/>
              </a:rPr>
              <a:t>Nepali_Embedding_Model</a:t>
            </a:r>
            <a:r>
              <a:rPr lang="en-US" sz="2000" i="1" dirty="0">
                <a:latin typeface="Aptos" panose="020B0004020202020204" pitchFamily="34" charset="0"/>
              </a:rPr>
              <a:t> </a:t>
            </a:r>
            <a:r>
              <a:rPr lang="en-US" sz="2000" dirty="0">
                <a:latin typeface="Aptos" panose="020B0004020202020204" pitchFamily="34" charset="0"/>
              </a:rPr>
              <a:t>with:</a:t>
            </a: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Maximum sequence length: 512 tokens</a:t>
            </a:r>
          </a:p>
          <a:p>
            <a:pPr lvl="1"/>
            <a:r>
              <a:rPr lang="en-US" sz="2000" dirty="0">
                <a:latin typeface="Aptos" panose="020B0004020202020204" pitchFamily="34" charset="0"/>
              </a:rPr>
              <a:t>Output dimensionality: 1024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Generated &amp; Stored dense embeddings with metadata in </a:t>
            </a:r>
            <a:r>
              <a:rPr lang="en-US" sz="2000" i="1" dirty="0" err="1">
                <a:latin typeface="Aptos" panose="020B0004020202020204" pitchFamily="34" charset="0"/>
              </a:rPr>
              <a:t>PineconeDB</a:t>
            </a:r>
            <a:r>
              <a:rPr lang="en-US" sz="2000" i="1" dirty="0">
                <a:latin typeface="Aptos" panose="020B0004020202020204" pitchFamily="34" charset="0"/>
              </a:rPr>
              <a:t>.</a:t>
            </a:r>
            <a:endParaRPr lang="en-US" sz="2000" dirty="0"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Sparse vector representations using BM25 encoder to support keyword-based search.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703DA01-C62A-3AA4-69D1-286773B2A4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EA04F3-E8C7-4AF4-1908-826F0F5D7413}"/>
              </a:ext>
            </a:extLst>
          </p:cNvPr>
          <p:cNvSpPr txBox="1"/>
          <p:nvPr/>
        </p:nvSpPr>
        <p:spPr>
          <a:xfrm>
            <a:off x="564154" y="1381826"/>
            <a:ext cx="11063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2. Embedding Generation and Storage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2AB346-B87E-1EB1-12C3-C29F89094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847" y="3941634"/>
            <a:ext cx="8830552" cy="26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20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2B79-FB86-B87E-D913-E59453AE9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1DDE15-7BCA-3FE0-DD38-D99431B6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A878"/>
                </a:solidFill>
                <a:latin typeface="Aptos" panose="020B0004020202020204" pitchFamily="34" charset="0"/>
              </a:rPr>
              <a:t>Methodology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6757B573-A59B-A5A9-8500-5DC35A4DA0BF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69ADE6-ABA7-8B3B-1541-CE28DB381BA7}"/>
              </a:ext>
            </a:extLst>
          </p:cNvPr>
          <p:cNvSpPr txBox="1"/>
          <p:nvPr/>
        </p:nvSpPr>
        <p:spPr>
          <a:xfrm>
            <a:off x="564154" y="1843491"/>
            <a:ext cx="11063690" cy="4664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Aptos" panose="020B0004020202020204" pitchFamily="34" charset="0"/>
              </a:rPr>
              <a:t>Multiple retrieval strategies: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" panose="020B0004020202020204" pitchFamily="34" charset="0"/>
              </a:rPr>
              <a:t>Pure Dense Search </a:t>
            </a:r>
            <a:r>
              <a:rPr lang="en-US" sz="2000" dirty="0">
                <a:latin typeface="Aptos" panose="020B0004020202020204" pitchFamily="34" charset="0"/>
              </a:rPr>
              <a:t>— similarity search using dense embeddings only.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" panose="020B0004020202020204" pitchFamily="34" charset="0"/>
              </a:rPr>
              <a:t>Hybrid Search </a:t>
            </a:r>
            <a:r>
              <a:rPr lang="en-US" sz="2000" dirty="0">
                <a:latin typeface="Aptos" panose="020B0004020202020204" pitchFamily="34" charset="0"/>
              </a:rPr>
              <a:t>— combination of dense embeddings and keyword-based BM25 search( Controlled by alpha parameter)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" panose="020B0004020202020204" pitchFamily="34" charset="0"/>
              </a:rPr>
              <a:t>Metadata-based Filtering </a:t>
            </a:r>
            <a:r>
              <a:rPr lang="en-US" sz="2000" dirty="0">
                <a:latin typeface="Aptos" panose="020B0004020202020204" pitchFamily="34" charset="0"/>
              </a:rPr>
              <a:t>— filtered chunks by document type, tags.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" panose="020B0004020202020204" pitchFamily="34" charset="0"/>
              </a:rPr>
              <a:t>Cross-Encoder Reranking </a:t>
            </a:r>
            <a:r>
              <a:rPr lang="en-US" sz="2000" dirty="0">
                <a:latin typeface="Aptos" panose="020B0004020202020204" pitchFamily="34" charset="0"/>
              </a:rPr>
              <a:t>— refined top results using cross encoder model (</a:t>
            </a:r>
            <a:r>
              <a:rPr lang="en-US" dirty="0" err="1"/>
              <a:t>jinaai</a:t>
            </a:r>
            <a:r>
              <a:rPr lang="en-US" dirty="0"/>
              <a:t>/jina-reranker-v2-base-multilingual</a:t>
            </a:r>
            <a:r>
              <a:rPr lang="en-US" dirty="0">
                <a:latin typeface="Aptos" panose="020B0004020202020204" pitchFamily="34" charset="0"/>
              </a:rPr>
              <a:t>)</a:t>
            </a:r>
            <a:r>
              <a:rPr lang="en-US" sz="2000" dirty="0">
                <a:latin typeface="Aptos" panose="020B0004020202020204" pitchFamily="34" charset="0"/>
              </a:rPr>
              <a:t> for higher relevance.</a:t>
            </a:r>
            <a:endParaRPr lang="en-US" sz="2000" b="1" dirty="0">
              <a:latin typeface="Aptos" panose="020B0004020202020204" pitchFamily="34" charset="0"/>
            </a:endParaRPr>
          </a:p>
          <a:p>
            <a:pPr lvl="1">
              <a:lnSpc>
                <a:spcPct val="150000"/>
              </a:lnSpc>
            </a:pPr>
            <a:endParaRPr lang="en-US" sz="2000" b="1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ptos" panose="020B0004020202020204" pitchFamily="34" charset="0"/>
              </a:rPr>
              <a:t>Query Translation and Rewriting Layer</a:t>
            </a:r>
            <a:r>
              <a:rPr lang="en-US" sz="2000" dirty="0">
                <a:latin typeface="Aptos" panose="020B0004020202020204" pitchFamily="34" charset="0"/>
              </a:rPr>
              <a:t> — translates queries to Nepali, includes chat context, and detects language.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4C19365-8B00-157F-12E7-0B88530BC4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A9B66-B668-A566-35FA-70D71A3B522A}"/>
              </a:ext>
            </a:extLst>
          </p:cNvPr>
          <p:cNvSpPr txBox="1"/>
          <p:nvPr/>
        </p:nvSpPr>
        <p:spPr>
          <a:xfrm>
            <a:off x="564154" y="1381826"/>
            <a:ext cx="11063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3. Retriever Design</a:t>
            </a:r>
          </a:p>
        </p:txBody>
      </p:sp>
    </p:spTree>
    <p:extLst>
      <p:ext uri="{BB962C8B-B14F-4D97-AF65-F5344CB8AC3E}">
        <p14:creationId xmlns:p14="http://schemas.microsoft.com/office/powerpoint/2010/main" val="3613511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2F560-B3D9-7776-F416-302BD722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C959D5-438F-BCF8-2A19-384F64EBE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A878"/>
                </a:solidFill>
                <a:latin typeface="Aptos" panose="020B0004020202020204" pitchFamily="34" charset="0"/>
              </a:rPr>
              <a:t>Methodology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57406953-C461-CFF5-4F10-DED31EA0BB84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C35962-E2F2-4F6D-C262-76DF797F4F17}"/>
              </a:ext>
            </a:extLst>
          </p:cNvPr>
          <p:cNvSpPr txBox="1"/>
          <p:nvPr/>
        </p:nvSpPr>
        <p:spPr>
          <a:xfrm>
            <a:off x="564154" y="1942429"/>
            <a:ext cx="11063690" cy="1432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" panose="020B0004020202020204" pitchFamily="34" charset="0"/>
              </a:rPr>
              <a:t>Language-Aware Response Generation : </a:t>
            </a:r>
            <a:r>
              <a:rPr lang="en-US" sz="2000" dirty="0">
                <a:latin typeface="Aptos" panose="020B0004020202020204" pitchFamily="34" charset="0"/>
              </a:rPr>
              <a:t>Gemini API to generate answers with given context in the detected language.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" panose="020B0004020202020204" pitchFamily="34" charset="0"/>
              </a:rPr>
              <a:t>Source Citation : </a:t>
            </a:r>
            <a:r>
              <a:rPr lang="en-US" sz="2000" dirty="0">
                <a:latin typeface="Aptos" panose="020B0004020202020204" pitchFamily="34" charset="0"/>
              </a:rPr>
              <a:t>Cite references for retrieved information.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D93693-D59C-FD42-AC26-2A4D53598E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DD96CC-9BA8-4A53-2031-9254A5ECDDC0}"/>
              </a:ext>
            </a:extLst>
          </p:cNvPr>
          <p:cNvSpPr txBox="1"/>
          <p:nvPr/>
        </p:nvSpPr>
        <p:spPr>
          <a:xfrm>
            <a:off x="564154" y="1381826"/>
            <a:ext cx="11063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4. Generator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956F55-8CB5-506C-7734-E05F420C8E60}"/>
              </a:ext>
            </a:extLst>
          </p:cNvPr>
          <p:cNvSpPr txBox="1"/>
          <p:nvPr/>
        </p:nvSpPr>
        <p:spPr>
          <a:xfrm>
            <a:off x="523875" y="4403366"/>
            <a:ext cx="11063690" cy="817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" panose="020B0004020202020204" pitchFamily="34" charset="0"/>
              </a:rPr>
              <a:t>Frontend: </a:t>
            </a:r>
            <a:r>
              <a:rPr lang="en-US" sz="2000" dirty="0">
                <a:latin typeface="Aptos" panose="020B0004020202020204" pitchFamily="34" charset="0"/>
              </a:rPr>
              <a:t>Next.js &amp; Tailwind CSS.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" panose="020B0004020202020204" pitchFamily="34" charset="0"/>
              </a:rPr>
              <a:t>Backend:</a:t>
            </a:r>
            <a:r>
              <a:rPr lang="en-US" sz="2000" dirty="0">
                <a:latin typeface="Aptos" panose="020B0004020202020204" pitchFamily="34" charset="0"/>
              </a:rPr>
              <a:t> </a:t>
            </a:r>
            <a:r>
              <a:rPr lang="en-US" sz="2000" dirty="0" err="1">
                <a:latin typeface="Aptos" panose="020B0004020202020204" pitchFamily="34" charset="0"/>
              </a:rPr>
              <a:t>FastAPI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590AC-8606-5305-1952-9752F638897C}"/>
              </a:ext>
            </a:extLst>
          </p:cNvPr>
          <p:cNvSpPr txBox="1"/>
          <p:nvPr/>
        </p:nvSpPr>
        <p:spPr>
          <a:xfrm>
            <a:off x="483595" y="3761240"/>
            <a:ext cx="11063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5. Web App Design</a:t>
            </a:r>
          </a:p>
        </p:txBody>
      </p:sp>
    </p:spTree>
    <p:extLst>
      <p:ext uri="{BB962C8B-B14F-4D97-AF65-F5344CB8AC3E}">
        <p14:creationId xmlns:p14="http://schemas.microsoft.com/office/powerpoint/2010/main" val="362912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27D0-DE1F-D336-23FC-3933B5586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7265A1-8625-59BC-6369-B24B24ECC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A878"/>
                </a:solidFill>
                <a:latin typeface="Aptos" panose="020B0004020202020204" pitchFamily="34" charset="0"/>
              </a:rPr>
              <a:t>Methodology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1C5A3DD1-BF7A-3B3C-32E6-01EF0BC9A335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FA52D6-AB63-096F-41FF-1579C843DA19}"/>
              </a:ext>
            </a:extLst>
          </p:cNvPr>
          <p:cNvSpPr txBox="1"/>
          <p:nvPr/>
        </p:nvSpPr>
        <p:spPr>
          <a:xfrm>
            <a:off x="604434" y="2023952"/>
            <a:ext cx="11063690" cy="3266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/>
              <a:t>Evaluation Dataset: </a:t>
            </a:r>
            <a:r>
              <a:rPr lang="en-US" sz="2000" dirty="0"/>
              <a:t>28 question &amp; answer pairs.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/>
              <a:t>Testing Dataset: </a:t>
            </a:r>
            <a:r>
              <a:rPr lang="en-US" sz="2000" dirty="0"/>
              <a:t>15 question &amp; answer pairs.</a:t>
            </a:r>
            <a:endParaRPr lang="en-US" sz="2000" b="1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Manually labelling of relevant document chunks for each question to serve as ground truth.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RAG evaluation pipeline to calculate metrics :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	Recall</a:t>
            </a:r>
            <a:r>
              <a:rPr lang="en-US" sz="2000" dirty="0"/>
              <a:t> – proportion of relevant chunks retrieved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</a:t>
            </a:r>
            <a:r>
              <a:rPr lang="en-US" sz="2000" b="1" dirty="0"/>
              <a:t>Precision</a:t>
            </a:r>
            <a:r>
              <a:rPr lang="en-US" sz="2000" dirty="0"/>
              <a:t> – proportion of retrieved chunks that were relevant,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	Answer Correctness </a:t>
            </a:r>
            <a:r>
              <a:rPr lang="en-US" sz="2000" dirty="0"/>
              <a:t>– accuracy of generated responses against labeled data.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BAEFA99-4F46-4CE3-AAB6-3D814D17D5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CBFD1-608D-9BBF-DE22-04573EDF8C3F}"/>
              </a:ext>
            </a:extLst>
          </p:cNvPr>
          <p:cNvSpPr txBox="1"/>
          <p:nvPr/>
        </p:nvSpPr>
        <p:spPr>
          <a:xfrm>
            <a:off x="564154" y="1381826"/>
            <a:ext cx="110636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6. Evaluation and Testing</a:t>
            </a:r>
          </a:p>
        </p:txBody>
      </p:sp>
    </p:spTree>
    <p:extLst>
      <p:ext uri="{BB962C8B-B14F-4D97-AF65-F5344CB8AC3E}">
        <p14:creationId xmlns:p14="http://schemas.microsoft.com/office/powerpoint/2010/main" val="956980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C7867-0B30-85D7-527D-B2C4D18D0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B853E4-D35A-BA14-5C0D-B0413F298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9E6F"/>
                </a:solidFill>
                <a:latin typeface="Aptos" panose="020B0004020202020204" pitchFamily="34" charset="0"/>
              </a:rPr>
              <a:t>System Design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2083F2DA-B17E-D927-7D8F-C82F942158DA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System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08AC0-4A9D-1A66-EBD9-C5D903EEA2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E7FC3-0A75-CED7-1408-B93BF6D41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34" y="2031181"/>
            <a:ext cx="8451076" cy="456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757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6E1DB-C5AF-48B3-6E4F-AC4A7A2E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F3B14B-9E93-1413-3A67-CF715D4D7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A878"/>
                </a:solidFill>
                <a:latin typeface="Aptos" panose="020B0004020202020204" pitchFamily="34" charset="0"/>
              </a:rPr>
              <a:t>Results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16D8C274-48AB-DE09-B305-9EFC5D1FED5C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66839F-848A-6AB7-17F3-BE5485135834}"/>
              </a:ext>
            </a:extLst>
          </p:cNvPr>
          <p:cNvSpPr txBox="1"/>
          <p:nvPr/>
        </p:nvSpPr>
        <p:spPr>
          <a:xfrm>
            <a:off x="604434" y="1459345"/>
            <a:ext cx="10983131" cy="50800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000" dirty="0">
              <a:solidFill>
                <a:prstClr val="black">
                  <a:lumMod val="75000"/>
                  <a:lumOff val="25000"/>
                </a:prstClr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54A8C8E-BBC8-CC62-E293-1958B2DDE1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9BD776-6F29-0FCD-FCE2-854E15D14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585926"/>
              </p:ext>
            </p:extLst>
          </p:nvPr>
        </p:nvGraphicFramePr>
        <p:xfrm>
          <a:off x="604434" y="1489992"/>
          <a:ext cx="10535514" cy="45782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7757">
                  <a:extLst>
                    <a:ext uri="{9D8B030D-6E8A-4147-A177-3AD203B41FA5}">
                      <a16:colId xmlns:a16="http://schemas.microsoft.com/office/drawing/2014/main" val="3412335418"/>
                    </a:ext>
                  </a:extLst>
                </a:gridCol>
                <a:gridCol w="5267757">
                  <a:extLst>
                    <a:ext uri="{9D8B030D-6E8A-4147-A177-3AD203B41FA5}">
                      <a16:colId xmlns:a16="http://schemas.microsoft.com/office/drawing/2014/main" val="1738935259"/>
                    </a:ext>
                  </a:extLst>
                </a:gridCol>
              </a:tblGrid>
              <a:tr h="59847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Evaluation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77851"/>
                  </a:ext>
                </a:extLst>
              </a:tr>
              <a:tr h="598472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Without Metadata Filtering and without re-ranking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472802"/>
                  </a:ext>
                </a:extLst>
              </a:tr>
              <a:tr h="1143671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Pure Dense Search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Top 3 used for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 Correctness: 78.92%</a:t>
                      </a:r>
                    </a:p>
                    <a:p>
                      <a:r>
                        <a:rPr lang="en-US" dirty="0"/>
                        <a:t>Recall@7 : 89.94%</a:t>
                      </a:r>
                    </a:p>
                    <a:p>
                      <a:r>
                        <a:rPr lang="en-US" dirty="0"/>
                        <a:t>Precision@7: 21.93%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622834"/>
                  </a:ext>
                </a:extLst>
              </a:tr>
              <a:tr h="1163326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Hybrid Search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dirty="0"/>
                        <a:t>50% Dense and 50% Sparse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Top 3 used for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 Correctness: 83.14%</a:t>
                      </a:r>
                    </a:p>
                    <a:p>
                      <a:r>
                        <a:rPr lang="en-US" dirty="0"/>
                        <a:t>Recall@7 : 90.23%</a:t>
                      </a:r>
                    </a:p>
                    <a:p>
                      <a:r>
                        <a:rPr lang="en-US" dirty="0"/>
                        <a:t>Precision@7: 21.93%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821303"/>
                  </a:ext>
                </a:extLst>
              </a:tr>
              <a:tr h="1074358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Hybrid Search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dirty="0"/>
                        <a:t>75% Dense and 25% Sparse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Top 3 used for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 Correctness: 84.10%</a:t>
                      </a:r>
                    </a:p>
                    <a:p>
                      <a:r>
                        <a:rPr lang="en-US" dirty="0"/>
                        <a:t>Recall@7 : 90.23%</a:t>
                      </a:r>
                    </a:p>
                    <a:p>
                      <a:r>
                        <a:rPr lang="en-US" dirty="0"/>
                        <a:t>Precision@7: 21.93%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552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2867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2D0E8-059D-80ED-88DD-D4016335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7217D7-2C79-F5E3-5A90-BE3392DE3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A878"/>
                </a:solidFill>
                <a:latin typeface="Aptos" panose="020B0004020202020204" pitchFamily="34" charset="0"/>
              </a:rPr>
              <a:t>Results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9EFD947F-47DC-CA4D-C7CC-81260EEB3B94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6EC0CC-CD62-5890-F6F6-EFC3871164D2}"/>
              </a:ext>
            </a:extLst>
          </p:cNvPr>
          <p:cNvSpPr txBox="1"/>
          <p:nvPr/>
        </p:nvSpPr>
        <p:spPr>
          <a:xfrm>
            <a:off x="604434" y="1459345"/>
            <a:ext cx="10983131" cy="50800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000" dirty="0">
              <a:solidFill>
                <a:prstClr val="black">
                  <a:lumMod val="75000"/>
                  <a:lumOff val="25000"/>
                </a:prstClr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7782A76-061E-BDE4-1E9E-F275D64813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14ED7F-ECA1-2A38-A4CF-969C15B1E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117881"/>
              </p:ext>
            </p:extLst>
          </p:nvPr>
        </p:nvGraphicFramePr>
        <p:xfrm>
          <a:off x="604434" y="1489992"/>
          <a:ext cx="10535514" cy="48890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67757">
                  <a:extLst>
                    <a:ext uri="{9D8B030D-6E8A-4147-A177-3AD203B41FA5}">
                      <a16:colId xmlns:a16="http://schemas.microsoft.com/office/drawing/2014/main" val="3412335418"/>
                    </a:ext>
                  </a:extLst>
                </a:gridCol>
                <a:gridCol w="5267757">
                  <a:extLst>
                    <a:ext uri="{9D8B030D-6E8A-4147-A177-3AD203B41FA5}">
                      <a16:colId xmlns:a16="http://schemas.microsoft.com/office/drawing/2014/main" val="1738935259"/>
                    </a:ext>
                  </a:extLst>
                </a:gridCol>
              </a:tblGrid>
              <a:tr h="49612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Evaluation 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777851"/>
                  </a:ext>
                </a:extLst>
              </a:tr>
              <a:tr h="477755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Without Metadata Filtering and with re-ranking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472802"/>
                  </a:ext>
                </a:extLst>
              </a:tr>
              <a:tr h="1143671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Hybrid Search (50% Dense and 50% Sparse)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i="1" dirty="0"/>
                        <a:t>Document type only meta data filter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dirty="0"/>
                        <a:t>Top 3 used for Generation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 Correctness: 85.77%</a:t>
                      </a:r>
                    </a:p>
                    <a:p>
                      <a:r>
                        <a:rPr lang="en-US" dirty="0"/>
                        <a:t>Recall@7 : 90.23%</a:t>
                      </a:r>
                    </a:p>
                    <a:p>
                      <a:r>
                        <a:rPr lang="en-US" dirty="0"/>
                        <a:t>Precision@7: 21.93%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622834"/>
                  </a:ext>
                </a:extLst>
              </a:tr>
              <a:tr h="449155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b="1" dirty="0"/>
                        <a:t>With Metadata Filtering and with re-ranking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7116409"/>
                  </a:ext>
                </a:extLst>
              </a:tr>
              <a:tr h="1042220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Hybrid Search (50% Dense and 50% Sparse)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i="1" dirty="0"/>
                        <a:t>Document Type and Tag based filter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i="1" dirty="0"/>
                        <a:t>Top 3 used for generation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 Correctness: 82.52%</a:t>
                      </a:r>
                    </a:p>
                    <a:p>
                      <a:r>
                        <a:rPr lang="en-US" dirty="0"/>
                        <a:t>Recall@7 : 75.7%</a:t>
                      </a:r>
                    </a:p>
                    <a:p>
                      <a:r>
                        <a:rPr lang="en-US" dirty="0"/>
                        <a:t>Precision@7: 19.2%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443191"/>
                  </a:ext>
                </a:extLst>
              </a:tr>
              <a:tr h="360665">
                <a:tc gridSpan="2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b="1" i="0" dirty="0"/>
                        <a:t>Testing Dataset</a:t>
                      </a: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842568"/>
                  </a:ext>
                </a:extLst>
              </a:tr>
              <a:tr h="742156"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Hybrid Search (50% Dense and 50% Sparse)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0" i="1" dirty="0"/>
                        <a:t>Document type only meta data filter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dirty="0"/>
                        <a:t>Top 3 used for Generation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Answer Correctness: 89.3%</a:t>
                      </a:r>
                    </a:p>
                    <a:p>
                      <a:r>
                        <a:rPr lang="en-US" dirty="0"/>
                        <a:t>Recall@7 : 88.9%</a:t>
                      </a:r>
                    </a:p>
                    <a:p>
                      <a:r>
                        <a:rPr lang="en-US" dirty="0"/>
                        <a:t>Precision@7: 21.0%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91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054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4385D-704D-5BFF-FEF8-C2CE7641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9508D3-59AF-3CB7-1456-03866B228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9E6F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B31D45CA-0EA5-15C9-0BA2-42DBA3E4DA10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9D897F-2D6B-DC02-7B43-0AEF120D61CA}"/>
              </a:ext>
            </a:extLst>
          </p:cNvPr>
          <p:cNvSpPr txBox="1"/>
          <p:nvPr/>
        </p:nvSpPr>
        <p:spPr>
          <a:xfrm>
            <a:off x="604434" y="1459345"/>
            <a:ext cx="10983131" cy="50800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000" dirty="0">
              <a:solidFill>
                <a:prstClr val="black">
                  <a:lumMod val="75000"/>
                  <a:lumOff val="25000"/>
                </a:prstClr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9B82E-67E3-970F-BA7C-DC84F92D1C05}"/>
              </a:ext>
            </a:extLst>
          </p:cNvPr>
          <p:cNvSpPr txBox="1"/>
          <p:nvPr/>
        </p:nvSpPr>
        <p:spPr>
          <a:xfrm>
            <a:off x="604434" y="1459345"/>
            <a:ext cx="11088802" cy="235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Successfully developed a bilingual RAG-based chatbot to assist users with Nepali government document procedures.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Aptos" panose="020B0004020202020204" pitchFamily="34" charset="0"/>
              </a:rPr>
              <a:t>Ensured accurate and verified responses using official sources and hybrid retrieval strategies.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Aptos" panose="020B0004020202020204" pitchFamily="34" charset="0"/>
              </a:rPr>
              <a:t>Hybrid search (50% vector + 50% keyword, with reranking) </a:t>
            </a:r>
            <a:r>
              <a:rPr lang="en-US" sz="2000" dirty="0">
                <a:latin typeface="Aptos" panose="020B0004020202020204" pitchFamily="34" charset="0"/>
              </a:rPr>
              <a:t>achieved around 90% recall and 85% answer correctness.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A5714-C0AC-CC68-B56C-440F482F4F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212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590C-1DDC-0D1C-A455-AB10DB851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A31B5-7F58-62C9-6635-CDC9A9484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9E6F"/>
                </a:solidFill>
                <a:latin typeface="Aptos" panose="020B0004020202020204" pitchFamily="34" charset="0"/>
              </a:rPr>
              <a:t>Limitations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148C24B3-0DF0-FEB2-AE8B-A3CE49EDC2A3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98EC5C-A57F-C696-7BD5-2C0AE992B5FD}"/>
              </a:ext>
            </a:extLst>
          </p:cNvPr>
          <p:cNvSpPr txBox="1"/>
          <p:nvPr/>
        </p:nvSpPr>
        <p:spPr>
          <a:xfrm>
            <a:off x="604434" y="1459345"/>
            <a:ext cx="10983131" cy="50800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000" dirty="0">
              <a:solidFill>
                <a:prstClr val="black">
                  <a:lumMod val="75000"/>
                  <a:lumOff val="25000"/>
                </a:prstClr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11180F4-482D-3D18-6F99-A246E0134F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2EEAB-431B-13F8-6AC7-0CD49E5D78CD}"/>
              </a:ext>
            </a:extLst>
          </p:cNvPr>
          <p:cNvSpPr txBox="1"/>
          <p:nvPr/>
        </p:nvSpPr>
        <p:spPr>
          <a:xfrm>
            <a:off x="766916" y="1553497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03D9D0-4105-C762-CBF0-AE97112236E6}"/>
              </a:ext>
            </a:extLst>
          </p:cNvPr>
          <p:cNvSpPr txBox="1"/>
          <p:nvPr/>
        </p:nvSpPr>
        <p:spPr>
          <a:xfrm>
            <a:off x="604434" y="1459345"/>
            <a:ext cx="1098313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Limited to citizenship and passport only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Small evaluation dataset may not fully represent real user queries.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Lack of large-scale real user testing.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Semantic search limited to Nepali text, as the knowledge base was primarily in Nepali.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Translation inaccuracies.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Incorrect question tagging by Gemini when using tag-based filtering.</a:t>
            </a:r>
          </a:p>
        </p:txBody>
      </p:sp>
    </p:spTree>
    <p:extLst>
      <p:ext uri="{BB962C8B-B14F-4D97-AF65-F5344CB8AC3E}">
        <p14:creationId xmlns:p14="http://schemas.microsoft.com/office/powerpoint/2010/main" val="137662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5708-7BD0-B7DD-6A0A-C037D997A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5B2BA2-7B89-F4F6-726D-4A076B53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9E6F"/>
                </a:solidFill>
                <a:latin typeface="Aptos" panose="020B0004020202020204" pitchFamily="34" charset="0"/>
              </a:rPr>
              <a:t>Challenges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E197AA29-71ED-F541-47EB-64E4A988E20A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C6ACD4-4824-403C-36F1-496C251ADEC5}"/>
              </a:ext>
            </a:extLst>
          </p:cNvPr>
          <p:cNvSpPr txBox="1"/>
          <p:nvPr/>
        </p:nvSpPr>
        <p:spPr>
          <a:xfrm>
            <a:off x="604434" y="1553497"/>
            <a:ext cx="10983131" cy="50800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000" dirty="0">
              <a:solidFill>
                <a:prstClr val="black">
                  <a:lumMod val="75000"/>
                  <a:lumOff val="25000"/>
                </a:prstClr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71B5E19-031D-80DC-44CA-FE2220573B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26F64-DBE0-F46A-21BF-6AD204854982}"/>
              </a:ext>
            </a:extLst>
          </p:cNvPr>
          <p:cNvSpPr txBox="1"/>
          <p:nvPr/>
        </p:nvSpPr>
        <p:spPr>
          <a:xfrm>
            <a:off x="766916" y="1553497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A3FE6-41BB-9938-1B13-912C589E87B0}"/>
              </a:ext>
            </a:extLst>
          </p:cNvPr>
          <p:cNvSpPr txBox="1"/>
          <p:nvPr/>
        </p:nvSpPr>
        <p:spPr>
          <a:xfrm>
            <a:off x="604434" y="1459345"/>
            <a:ext cx="10983130" cy="1881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Selection of chunking strategies based on document type and structure.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Balancing between keyword and semantic search to achieve optimal hybrid retrieval 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Semantic accuracy of embedding and re-ranking models</a:t>
            </a:r>
          </a:p>
        </p:txBody>
      </p:sp>
    </p:spTree>
    <p:extLst>
      <p:ext uri="{BB962C8B-B14F-4D97-AF65-F5344CB8AC3E}">
        <p14:creationId xmlns:p14="http://schemas.microsoft.com/office/powerpoint/2010/main" val="3330836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4516C-E75F-583B-E85C-375EA2B53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7ED630-88DD-3688-D8EE-ADD9B3AE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9E6F"/>
                </a:solidFill>
                <a:latin typeface="Aptos" panose="020B0004020202020204" pitchFamily="34" charset="0"/>
              </a:rPr>
              <a:t>Future Works</a:t>
            </a:r>
          </a:p>
        </p:txBody>
      </p:sp>
      <p:sp>
        <p:nvSpPr>
          <p:cNvPr id="9" name="Google Shape;638;p33">
            <a:extLst>
              <a:ext uri="{FF2B5EF4-FFF2-40B4-BE49-F238E27FC236}">
                <a16:creationId xmlns:a16="http://schemas.microsoft.com/office/drawing/2014/main" id="{E0148AED-9932-866F-8097-C1300D70DE4B}"/>
              </a:ext>
            </a:extLst>
          </p:cNvPr>
          <p:cNvSpPr txBox="1">
            <a:spLocks/>
          </p:cNvSpPr>
          <p:nvPr/>
        </p:nvSpPr>
        <p:spPr>
          <a:xfrm>
            <a:off x="604434" y="1282888"/>
            <a:ext cx="10983131" cy="47854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DD4245-3B5F-F9FC-3A5C-8D931AA3CA71}"/>
              </a:ext>
            </a:extLst>
          </p:cNvPr>
          <p:cNvSpPr txBox="1"/>
          <p:nvPr/>
        </p:nvSpPr>
        <p:spPr>
          <a:xfrm>
            <a:off x="604434" y="1459345"/>
            <a:ext cx="10983131" cy="508000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2000" dirty="0">
              <a:solidFill>
                <a:prstClr val="black">
                  <a:lumMod val="75000"/>
                  <a:lumOff val="25000"/>
                </a:prstClr>
              </a:solidFill>
              <a:latin typeface="Aptos" panose="020B0004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6E957D-8BEB-9617-49BD-160A02909E2B}"/>
              </a:ext>
            </a:extLst>
          </p:cNvPr>
          <p:cNvSpPr txBox="1"/>
          <p:nvPr/>
        </p:nvSpPr>
        <p:spPr>
          <a:xfrm>
            <a:off x="604434" y="1459345"/>
            <a:ext cx="11088802" cy="1432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Expand to more government documents.</a:t>
            </a:r>
            <a:endParaRPr lang="en-US" sz="20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Improve legal translation with external knowledge base and mixed-language handling.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/>
              <a:t>Handle both English and Nepali knowledge bases for improved retrieval.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67D04-0689-7987-11A6-D4F69DA9018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59379A-16E2-4C4A-96D0-A52C442257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444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EACE2-541A-727F-9801-94E59B4CF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2BE18-771A-E467-8058-3B3FFC56F1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8841"/>
            <a:ext cx="9144000" cy="1160318"/>
          </a:xfrm>
        </p:spPr>
        <p:txBody>
          <a:bodyPr/>
          <a:lstStyle/>
          <a:p>
            <a:pPr algn="ctr"/>
            <a:r>
              <a:rPr lang="en-US" sz="7200" b="1" dirty="0">
                <a:latin typeface="Aptos" panose="020B00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94188493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{36E02661-7ACD-4F1E-9996-F3752D716469}tf16411177_win32</Template>
  <TotalTime>1811</TotalTime>
  <Words>939</Words>
  <Application>Microsoft Office PowerPoint</Application>
  <PresentationFormat>Widescreen</PresentationFormat>
  <Paragraphs>180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Calibri</vt:lpstr>
      <vt:lpstr>Segoe UI</vt:lpstr>
      <vt:lpstr>Segoe UI Light</vt:lpstr>
      <vt:lpstr>Wingdings</vt:lpstr>
      <vt:lpstr>Get Started with 3D</vt:lpstr>
      <vt:lpstr>DOCSGUIDE  An Assistant for Government Document Procedures </vt:lpstr>
      <vt:lpstr>Team Members</vt:lpstr>
      <vt:lpstr>Project Overview</vt:lpstr>
      <vt:lpstr>Problem Statement</vt:lpstr>
      <vt:lpstr>Objectives</vt:lpstr>
      <vt:lpstr>Methodology</vt:lpstr>
      <vt:lpstr>Methodology</vt:lpstr>
      <vt:lpstr>Methodology</vt:lpstr>
      <vt:lpstr>Methodology</vt:lpstr>
      <vt:lpstr>Methodology</vt:lpstr>
      <vt:lpstr>System Design</vt:lpstr>
      <vt:lpstr>Results</vt:lpstr>
      <vt:lpstr>Results</vt:lpstr>
      <vt:lpstr>Conclusion</vt:lpstr>
      <vt:lpstr>Limitations</vt:lpstr>
      <vt:lpstr>Challenges</vt:lpstr>
      <vt:lpstr>Future Works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Bikash Pokhrel</dc:creator>
  <cp:lastModifiedBy>Bikash Pokhrel</cp:lastModifiedBy>
  <cp:revision>33</cp:revision>
  <dcterms:created xsi:type="dcterms:W3CDTF">2025-04-19T16:10:50Z</dcterms:created>
  <dcterms:modified xsi:type="dcterms:W3CDTF">2025-11-15T07:07:10Z</dcterms:modified>
</cp:coreProperties>
</file>